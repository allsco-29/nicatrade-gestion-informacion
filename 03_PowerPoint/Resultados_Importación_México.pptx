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s-N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abcisco.UAM\Downloads\An&#225;lisis_Importaci&#243;n_M&#233;xico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[Análisis_Importación_México.xlsx]Datos_Importación!TablaDinámica2</c:name>
    <c:fmtId val="14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/>
              <a:t>NicaTrade International</a:t>
            </a:r>
          </a:p>
          <a:p>
            <a:pPr>
              <a:defRPr/>
            </a:pPr>
            <a:r>
              <a:rPr lang="en-US" b="0" i="1"/>
              <a:t>Importe</a:t>
            </a:r>
            <a:r>
              <a:rPr lang="en-US" b="0" i="1" baseline="0"/>
              <a:t> total de productos por categoría</a:t>
            </a:r>
            <a:endParaRPr lang="en-US" b="0" i="1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NI"/>
        </a:p>
      </c:txPr>
    </c:title>
    <c:autoTitleDeleted val="0"/>
    <c:pivotFmts>
      <c:pivotFmt>
        <c:idx val="0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NI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NI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3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4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5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6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7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8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9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NI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1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2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3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4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5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6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</c:pivotFmts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tx>
            <c:strRef>
              <c:f>Datos_Importación!$N$37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723A-42B8-B198-DD966AD6BA0E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723A-42B8-B198-DD966AD6BA0E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723A-42B8-B198-DD966AD6BA0E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7-723A-42B8-B198-DD966AD6BA0E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9-723A-42B8-B198-DD966AD6BA0E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B-723A-42B8-B198-DD966AD6BA0E}"/>
              </c:ext>
            </c:extLst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D-723A-42B8-B198-DD966AD6BA0E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NI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Datos_Importación!$M$38:$M$45</c:f>
              <c:strCache>
                <c:ptCount val="7"/>
                <c:pt idx="0">
                  <c:v>Accesorios</c:v>
                </c:pt>
                <c:pt idx="1">
                  <c:v>Alimentos</c:v>
                </c:pt>
                <c:pt idx="2">
                  <c:v>Bebidas</c:v>
                </c:pt>
                <c:pt idx="3">
                  <c:v>Hogar</c:v>
                </c:pt>
                <c:pt idx="4">
                  <c:v>Limpieza</c:v>
                </c:pt>
                <c:pt idx="5">
                  <c:v>Oficina</c:v>
                </c:pt>
                <c:pt idx="6">
                  <c:v>Tecnología</c:v>
                </c:pt>
              </c:strCache>
            </c:strRef>
          </c:cat>
          <c:val>
            <c:numRef>
              <c:f>Datos_Importación!$N$38:$N$45</c:f>
              <c:numCache>
                <c:formatCode>#,##0</c:formatCode>
                <c:ptCount val="7"/>
                <c:pt idx="0">
                  <c:v>9642</c:v>
                </c:pt>
                <c:pt idx="1">
                  <c:v>9464</c:v>
                </c:pt>
                <c:pt idx="2">
                  <c:v>2661.75</c:v>
                </c:pt>
                <c:pt idx="3">
                  <c:v>4945.5</c:v>
                </c:pt>
                <c:pt idx="4">
                  <c:v>3438.5</c:v>
                </c:pt>
                <c:pt idx="5">
                  <c:v>3803.5</c:v>
                </c:pt>
                <c:pt idx="6">
                  <c:v>6403.75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723A-42B8-B198-DD966AD6BA0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NI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NI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9B9A7E-540B-447F-B6BF-C479819EF4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8F79088-5598-4CFC-802B-B3AB8FED5D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92A95DE-559F-4150-BC04-24F538BFA2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220F5-7F1C-443B-A32F-B3E02DFAE15A}" type="datetimeFigureOut">
              <a:rPr lang="es-NI" smtClean="0"/>
              <a:t>17/9/2026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EF9F9AA-40EC-4545-9BE9-96247E436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DBFBB8F-5F17-4ECB-9B3C-D446CD0C4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9DCBE-8CA8-4304-B658-D31580801C9E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15086092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3D765F-06E8-4D86-8808-19B3F00F6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F8A4BA-BBAD-4618-BB23-BF5FDB1D1D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AFF887-98A4-4249-8540-0B5BE13D1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220F5-7F1C-443B-A32F-B3E02DFAE15A}" type="datetimeFigureOut">
              <a:rPr lang="es-NI" smtClean="0"/>
              <a:t>17/9/2026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92BBD78-7A5A-4D39-BD12-B59B522FC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C5576B1-3C89-4FBE-8356-4DF7440AB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9DCBE-8CA8-4304-B658-D31580801C9E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29469298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6EB6CF-F073-4FBF-A0ED-35C4038AC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5B7C8B2-0D52-4E0A-A1F7-EAF2CFFB4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CF3B82F-92B8-4AB4-B44C-4FD397D56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220F5-7F1C-443B-A32F-B3E02DFAE15A}" type="datetimeFigureOut">
              <a:rPr lang="es-NI" smtClean="0"/>
              <a:t>17/9/2026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1BAFC85-D3B5-417C-9D92-D5E08462D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D8313E0-1693-4F7C-85C4-20E800AE9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9DCBE-8CA8-4304-B658-D31580801C9E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16376584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D97C72-4015-4721-B839-EEEE08FA6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D6BEDCE-8472-446D-8530-6284B53265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DD11832-C9BF-4370-960C-18601642FC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726ABDC-D2AB-4A76-86C8-620237DD7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220F5-7F1C-443B-A32F-B3E02DFAE15A}" type="datetimeFigureOut">
              <a:rPr lang="es-NI" smtClean="0"/>
              <a:t>17/9/2026</a:t>
            </a:fld>
            <a:endParaRPr lang="es-NI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395219E-9499-49F5-8EC6-F2DA6CA00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A54DD50-5558-41F0-983F-E99B432D1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9DCBE-8CA8-4304-B658-D31580801C9E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2126969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C81297-7EEC-4D34-A4E5-5127A175E7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1065062-0ACC-4EDE-8EDB-B718C28968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74F629F-0608-47B4-BEDD-8330F35633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57F6A45-AE2D-478B-879E-9EAFF9252B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F58C2A4-16C6-4B8A-914B-CAFBB50021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CB47AF57-96AD-4F83-B27E-5E011B5258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220F5-7F1C-443B-A32F-B3E02DFAE15A}" type="datetimeFigureOut">
              <a:rPr lang="es-NI" smtClean="0"/>
              <a:t>17/9/2026</a:t>
            </a:fld>
            <a:endParaRPr lang="es-NI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420E766-EF11-4C28-9DCB-E976F8326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95563CA-59D9-49ED-A831-011652764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9DCBE-8CA8-4304-B658-D31580801C9E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41337475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853F72-AE63-4799-BAEE-FDC5E4EA2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A0CED89-9B3A-41C8-AD50-27FBB3830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220F5-7F1C-443B-A32F-B3E02DFAE15A}" type="datetimeFigureOut">
              <a:rPr lang="es-NI" smtClean="0"/>
              <a:t>17/9/2026</a:t>
            </a:fld>
            <a:endParaRPr lang="es-NI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437106C-C0D7-40DE-A4FB-5C3165F06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F631BD7-580C-43C3-9FC6-49341FE07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9DCBE-8CA8-4304-B658-D31580801C9E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12918718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A0E41AB-A7CE-458C-A9D6-FDB468D25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220F5-7F1C-443B-A32F-B3E02DFAE15A}" type="datetimeFigureOut">
              <a:rPr lang="es-NI" smtClean="0"/>
              <a:t>17/9/2026</a:t>
            </a:fld>
            <a:endParaRPr lang="es-NI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918CDD8-9FDF-4392-A782-E64954762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DBBA9FE-D237-415E-AE4E-02E948065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9DCBE-8CA8-4304-B658-D31580801C9E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27061730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951608-3CA5-40FF-AB81-4F0027298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3724911-4A4A-46BE-8D9C-97D7675C74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F13D1D8-A660-425E-8BE7-C7E2D874A3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D7782A0-D94F-42A4-8295-042B17A14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220F5-7F1C-443B-A32F-B3E02DFAE15A}" type="datetimeFigureOut">
              <a:rPr lang="es-NI" smtClean="0"/>
              <a:t>17/9/2026</a:t>
            </a:fld>
            <a:endParaRPr lang="es-NI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9164D3C-9AC4-489D-BAC0-6E406CB3C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0CA84DF-804B-4892-9D2F-040ADFAA3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9DCBE-8CA8-4304-B658-D31580801C9E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34300096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E13027-E549-44C2-ABA6-5FBF869EC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E46388D3-AD08-4B03-A712-5F219C70FE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NI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19453CD-E3E8-478F-B699-2FAB32F33B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757A3C2-9901-4F7C-9B04-3DDAD8BDB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220F5-7F1C-443B-A32F-B3E02DFAE15A}" type="datetimeFigureOut">
              <a:rPr lang="es-NI" smtClean="0"/>
              <a:t>17/9/2026</a:t>
            </a:fld>
            <a:endParaRPr lang="es-NI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B365A0A-7E97-4445-8709-DDF37EBB7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DF63210-12A6-4674-8D41-FAAC49950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9DCBE-8CA8-4304-B658-D31580801C9E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31416357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4CE8AF-C38E-42EF-8344-2D10FC4FB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F938F05-F167-4454-A566-2988C8BB54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F1283FB-127B-42EA-99B4-F70628DB65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220F5-7F1C-443B-A32F-B3E02DFAE15A}" type="datetimeFigureOut">
              <a:rPr lang="es-NI" smtClean="0"/>
              <a:t>17/9/2026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B08473-4978-447E-B980-A47A6D2CD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B0A37B2-6258-4C7D-A150-1C67E622B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9DCBE-8CA8-4304-B658-D31580801C9E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2320222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A3CA9EF-DB98-4EE5-A630-DA320D96AF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B2B0521-5A9F-4BE6-9864-C82087A318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6EBB6DE-15FB-46F7-A6A3-B524AB417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220F5-7F1C-443B-A32F-B3E02DFAE15A}" type="datetimeFigureOut">
              <a:rPr lang="es-NI" smtClean="0"/>
              <a:t>17/9/2026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91E2CD5-2BD7-46B7-B8A7-6A4FFFE7C4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87E112D-D171-4B9D-8BE6-F78675CF6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9DCBE-8CA8-4304-B658-D31580801C9E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11655993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87CF6B20-626B-4C0E-B29B-DF137611DA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C8642C4-4A03-4BA4-A879-82B96B075A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3DA5C1B-D140-49D5-A896-2BCFEF8FE8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3220F5-7F1C-443B-A32F-B3E02DFAE15A}" type="datetimeFigureOut">
              <a:rPr lang="es-NI" smtClean="0"/>
              <a:t>17/9/2026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7654236-6B9C-42EB-B522-8157E4E199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DCC732D-F236-40C6-ADC3-B1924A0760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49DCBE-8CA8-4304-B658-D31580801C9E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443484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N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FA00F8-FD16-4990-BE3A-38D27CECBC7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 Black" panose="020B0A04020102020204" pitchFamily="34" charset="0"/>
              </a:rPr>
              <a:t>NicaTrade</a:t>
            </a:r>
            <a:r>
              <a:rPr lang="es-MX" dirty="0">
                <a:solidFill>
                  <a:schemeClr val="tx1">
                    <a:lumMod val="85000"/>
                    <a:lumOff val="15000"/>
                  </a:schemeClr>
                </a:solidFill>
                <a:latin typeface="Arial Black" panose="020B0A04020102020204" pitchFamily="34" charset="0"/>
              </a:rPr>
              <a:t> International</a:t>
            </a:r>
            <a:endParaRPr lang="es-NI" dirty="0">
              <a:solidFill>
                <a:schemeClr val="tx1">
                  <a:lumMod val="85000"/>
                  <a:lumOff val="1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E4B3ED0-B068-481F-A5B6-5D791EA0B1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2011362"/>
          </a:xfrm>
        </p:spPr>
        <p:txBody>
          <a:bodyPr>
            <a:normAutofit fontScale="77500" lnSpcReduction="20000"/>
          </a:bodyPr>
          <a:lstStyle/>
          <a:p>
            <a:r>
              <a:rPr lang="es-MX" i="1" dirty="0"/>
              <a:t>Operación de importación. </a:t>
            </a:r>
          </a:p>
          <a:p>
            <a:r>
              <a:rPr lang="es-MX" dirty="0"/>
              <a:t>México → Nicaragua. </a:t>
            </a:r>
          </a:p>
          <a:p>
            <a:endParaRPr lang="es-MX" dirty="0"/>
          </a:p>
          <a:p>
            <a:r>
              <a:rPr lang="es-MX" dirty="0"/>
              <a:t>Integrantes:</a:t>
            </a:r>
          </a:p>
          <a:p>
            <a:r>
              <a:rPr lang="es-MX" dirty="0"/>
              <a:t>Allison Argentina Caballero Ortega </a:t>
            </a:r>
          </a:p>
          <a:p>
            <a:r>
              <a:rPr lang="es-MX" dirty="0" err="1"/>
              <a:t>Avril</a:t>
            </a:r>
            <a:r>
              <a:rPr lang="es-MX" dirty="0"/>
              <a:t> Alejandra Meza Mayorga</a:t>
            </a:r>
            <a:endParaRPr lang="es-NI" dirty="0"/>
          </a:p>
        </p:txBody>
      </p:sp>
    </p:spTree>
    <p:extLst>
      <p:ext uri="{BB962C8B-B14F-4D97-AF65-F5344CB8AC3E}">
        <p14:creationId xmlns:p14="http://schemas.microsoft.com/office/powerpoint/2010/main" val="15822493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A78EB3-67B3-42F4-9210-A5799B56CF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MX" dirty="0">
                <a:solidFill>
                  <a:schemeClr val="tx1">
                    <a:lumMod val="85000"/>
                    <a:lumOff val="15000"/>
                  </a:schemeClr>
                </a:solidFill>
                <a:latin typeface="Arial Black" panose="020B0A04020102020204" pitchFamily="34" charset="0"/>
              </a:rPr>
              <a:t>Empresa y Operación</a:t>
            </a:r>
            <a:endParaRPr lang="es-NI" dirty="0">
              <a:solidFill>
                <a:schemeClr val="tx1">
                  <a:lumMod val="85000"/>
                  <a:lumOff val="1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D95DD07-C326-4069-A200-C067E0B979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MX" dirty="0" err="1"/>
              <a:t>NicaTrade</a:t>
            </a:r>
            <a:r>
              <a:rPr lang="es-MX" dirty="0"/>
              <a:t> International es una empresa nicaragüense dedicada a la importación y exportación de productos alimenticios y productos de consumo hacia diferentes mercados de Centroamérica.</a:t>
            </a:r>
          </a:p>
          <a:p>
            <a:endParaRPr lang="es-MX" dirty="0"/>
          </a:p>
          <a:p>
            <a:pPr marL="0" indent="0">
              <a:buNone/>
            </a:pPr>
            <a:r>
              <a:rPr lang="es-MX" dirty="0"/>
              <a:t>Origen: México</a:t>
            </a:r>
          </a:p>
          <a:p>
            <a:pPr marL="0" indent="0">
              <a:buNone/>
            </a:pPr>
            <a:r>
              <a:rPr lang="es-MX" dirty="0"/>
              <a:t>Destino: Nicaragua</a:t>
            </a:r>
          </a:p>
          <a:p>
            <a:pPr marL="0" indent="0">
              <a:buNone/>
            </a:pPr>
            <a:r>
              <a:rPr lang="es-MX" dirty="0"/>
              <a:t>Tipo: Importación Internacional</a:t>
            </a:r>
          </a:p>
          <a:p>
            <a:pPr marL="0" indent="0">
              <a:buNone/>
            </a:pPr>
            <a:r>
              <a:rPr lang="es-MX" dirty="0"/>
              <a:t>Productos: Alimentos, limpieza, hogar, oficina, tecnologías y accesorios.</a:t>
            </a:r>
          </a:p>
        </p:txBody>
      </p:sp>
    </p:spTree>
    <p:extLst>
      <p:ext uri="{BB962C8B-B14F-4D97-AF65-F5344CB8AC3E}">
        <p14:creationId xmlns:p14="http://schemas.microsoft.com/office/powerpoint/2010/main" val="1754011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D321E0-633D-4C93-930A-13D9274C9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MX" dirty="0">
                <a:latin typeface="Arial Black" panose="020B0A04020102020204" pitchFamily="34" charset="0"/>
              </a:rPr>
              <a:t>Resultados</a:t>
            </a:r>
            <a:endParaRPr lang="es-NI" dirty="0">
              <a:latin typeface="Arial Black" panose="020B0A04020102020204" pitchFamily="34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096A7BF-1D03-4532-BD6D-CFC9421921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97112"/>
            <a:ext cx="6163733" cy="2483909"/>
          </a:xfrm>
        </p:spPr>
        <p:txBody>
          <a:bodyPr>
            <a:normAutofit/>
          </a:bodyPr>
          <a:lstStyle/>
          <a:p>
            <a:r>
              <a:rPr lang="es-MX" sz="2000" dirty="0"/>
              <a:t>Importe Total:</a:t>
            </a:r>
          </a:p>
          <a:p>
            <a:pPr marL="0" indent="0">
              <a:buNone/>
            </a:pPr>
            <a:r>
              <a:rPr lang="es-MX" sz="2000" dirty="0"/>
              <a:t>El importe total es $40,359.</a:t>
            </a:r>
          </a:p>
          <a:p>
            <a:r>
              <a:rPr lang="es-MX" sz="2000" dirty="0"/>
              <a:t>Producto con mayor importe:</a:t>
            </a:r>
          </a:p>
          <a:p>
            <a:pPr marL="0" indent="0">
              <a:buNone/>
            </a:pPr>
            <a:r>
              <a:rPr lang="es-MX" sz="2000" dirty="0"/>
              <a:t>El producto con mayor importe son las Mochilas</a:t>
            </a:r>
          </a:p>
          <a:p>
            <a:r>
              <a:rPr lang="es-MX" sz="2000" dirty="0"/>
              <a:t>Precio promedio:</a:t>
            </a:r>
          </a:p>
          <a:p>
            <a:pPr marL="0" indent="0">
              <a:buNone/>
            </a:pPr>
            <a:r>
              <a:rPr lang="es-MX" sz="2000" dirty="0"/>
              <a:t>El precio promedio es 7.74</a:t>
            </a:r>
          </a:p>
          <a:p>
            <a:pPr marL="0" indent="0">
              <a:buNone/>
            </a:pPr>
            <a:endParaRPr lang="es-MX" sz="2500" dirty="0"/>
          </a:p>
          <a:p>
            <a:pPr marL="0" indent="0">
              <a:buNone/>
            </a:pPr>
            <a:endParaRPr lang="es-MX" sz="2500" dirty="0"/>
          </a:p>
          <a:p>
            <a:pPr marL="0" indent="0">
              <a:buNone/>
            </a:pPr>
            <a:endParaRPr lang="es-MX" dirty="0"/>
          </a:p>
          <a:p>
            <a:endParaRPr lang="es-MX" dirty="0"/>
          </a:p>
          <a:p>
            <a:endParaRPr lang="es-MX" dirty="0"/>
          </a:p>
        </p:txBody>
      </p:sp>
      <p:graphicFrame>
        <p:nvGraphicFramePr>
          <p:cNvPr id="6" name="Gráfico 5">
            <a:extLst>
              <a:ext uri="{FF2B5EF4-FFF2-40B4-BE49-F238E27FC236}">
                <a16:creationId xmlns:a16="http://schemas.microsoft.com/office/drawing/2014/main" id="{D89EDE8C-DBA3-48B1-A392-B2801216800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62226853"/>
              </p:ext>
            </p:extLst>
          </p:nvPr>
        </p:nvGraphicFramePr>
        <p:xfrm>
          <a:off x="7281332" y="2167466"/>
          <a:ext cx="4224867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9457710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CE7D74-8639-4DAD-816B-B5AC9C1E5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MX" dirty="0">
                <a:latin typeface="Arial Black" panose="020B0A04020102020204" pitchFamily="34" charset="0"/>
              </a:rPr>
              <a:t>Conclusiones</a:t>
            </a:r>
            <a:endParaRPr lang="es-NI" dirty="0">
              <a:latin typeface="Arial Black" panose="020B0A04020102020204" pitchFamily="34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08BDB21-EF19-4307-8E7F-A0733F1F1C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s-MX" dirty="0"/>
              <a:t>Resultado principal:</a:t>
            </a:r>
          </a:p>
          <a:p>
            <a:pPr marL="0" indent="0">
              <a:buNone/>
            </a:pPr>
            <a:r>
              <a:rPr lang="es-MX" dirty="0"/>
              <a:t>La información procesada permitió conocer el valor total de la operación y los productos que representan mayor importe.</a:t>
            </a:r>
          </a:p>
          <a:p>
            <a:pPr marL="0" indent="0">
              <a:buNone/>
            </a:pPr>
            <a:endParaRPr lang="es-MX" dirty="0"/>
          </a:p>
          <a:p>
            <a:r>
              <a:rPr lang="es-MX" dirty="0"/>
              <a:t>Importancia del análisis:</a:t>
            </a:r>
          </a:p>
          <a:p>
            <a:pPr marL="0" indent="0">
              <a:buNone/>
            </a:pPr>
            <a:r>
              <a:rPr lang="es-MX" dirty="0"/>
              <a:t>Analizar facilita la toma de decisiones antes de realizar una</a:t>
            </a:r>
          </a:p>
          <a:p>
            <a:pPr marL="0" indent="0">
              <a:buNone/>
            </a:pPr>
            <a:r>
              <a:rPr lang="es-MX" dirty="0"/>
              <a:t>Operación comercial.</a:t>
            </a:r>
          </a:p>
          <a:p>
            <a:endParaRPr lang="es-MX" dirty="0"/>
          </a:p>
          <a:p>
            <a:pPr marL="0" indent="0">
              <a:buNone/>
            </a:pPr>
            <a:r>
              <a:rPr lang="es-MX" dirty="0"/>
              <a:t>• Importancia de gestionar digitalmente la información. </a:t>
            </a:r>
          </a:p>
          <a:p>
            <a:pPr marL="0" indent="0">
              <a:buNone/>
            </a:pPr>
            <a:r>
              <a:rPr lang="es-MX" dirty="0"/>
              <a:t>El uso de herramientas como Excel, Word, </a:t>
            </a:r>
            <a:r>
              <a:rPr lang="es-MX" dirty="0" err="1"/>
              <a:t>Power</a:t>
            </a:r>
            <a:r>
              <a:rPr lang="es-MX" dirty="0"/>
              <a:t> Point y Google Drive permiten analizar, comunicar y compartir información empresarial de manera integrada. </a:t>
            </a:r>
            <a:endParaRPr lang="es-NI" dirty="0"/>
          </a:p>
        </p:txBody>
      </p:sp>
    </p:spTree>
    <p:extLst>
      <p:ext uri="{BB962C8B-B14F-4D97-AF65-F5344CB8AC3E}">
        <p14:creationId xmlns:p14="http://schemas.microsoft.com/office/powerpoint/2010/main" val="159148275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186</Words>
  <Application>Microsoft Office PowerPoint</Application>
  <PresentationFormat>Panorámica</PresentationFormat>
  <Paragraphs>36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9" baseType="lpstr">
      <vt:lpstr>Arial</vt:lpstr>
      <vt:lpstr>Arial Black</vt:lpstr>
      <vt:lpstr>Calibri</vt:lpstr>
      <vt:lpstr>Calibri Light</vt:lpstr>
      <vt:lpstr>Tema de Office</vt:lpstr>
      <vt:lpstr>NicaTrade International</vt:lpstr>
      <vt:lpstr>Empresa y Operación</vt:lpstr>
      <vt:lpstr>Resultados</vt:lpstr>
      <vt:lpstr>Conclusiones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Laboratorio Cisco</dc:creator>
  <cp:lastModifiedBy>Laboratorio Cisco</cp:lastModifiedBy>
  <cp:revision>7</cp:revision>
  <dcterms:created xsi:type="dcterms:W3CDTF">2026-09-17T13:46:23Z</dcterms:created>
  <dcterms:modified xsi:type="dcterms:W3CDTF">2026-09-17T14:49:39Z</dcterms:modified>
</cp:coreProperties>
</file>